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9" r:id="rId2"/>
    <p:sldId id="265" r:id="rId3"/>
    <p:sldId id="256" r:id="rId4"/>
    <p:sldId id="257" r:id="rId5"/>
    <p:sldId id="260" r:id="rId6"/>
    <p:sldId id="258" r:id="rId7"/>
    <p:sldId id="278" r:id="rId8"/>
    <p:sldId id="277" r:id="rId9"/>
    <p:sldId id="273" r:id="rId10"/>
    <p:sldId id="276" r:id="rId11"/>
    <p:sldId id="266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87502689" name="逍遥～徐" initials="逍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8" y="520"/>
      </p:cViewPr>
      <p:guideLst>
        <p:guide orient="horz" pos="21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林杯五子棋大赛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1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林杯五子棋大赛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9.xml"/><Relationship Id="rId4" Type="http://schemas.openxmlformats.org/officeDocument/2006/relationships/video" Target="../media/media2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17235" y="915243"/>
            <a:ext cx="7647275" cy="2299970"/>
          </a:xfrm>
        </p:spPr>
        <p:txBody>
          <a:bodyPr>
            <a:noAutofit/>
          </a:bodyPr>
          <a:lstStyle/>
          <a:p>
            <a:r>
              <a:rPr lang="en-US" altLang="zh-CN" sz="8000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Y. L. Tank Game</a:t>
            </a:r>
            <a:endParaRPr lang="zh-CN" altLang="en-US" sz="8000" dirty="0"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Y. L. Tank Game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8774430" y="5373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报告人</a:t>
            </a:r>
            <a:r>
              <a:rPr lang="en-US" altLang="zh-CN" dirty="0"/>
              <a:t>:</a:t>
            </a:r>
            <a:r>
              <a:rPr lang="zh-CN" altLang="en-US" dirty="0"/>
              <a:t>徐俊毅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74430" y="5005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2025.9.21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2710"/>
            <a:ext cx="3931285" cy="506095"/>
          </a:xfrm>
        </p:spPr>
        <p:txBody>
          <a:bodyPr anchor="t">
            <a:noAutofit/>
          </a:bodyPr>
          <a:lstStyle/>
          <a:p>
            <a:r>
              <a:rPr lang="zh-CN" altLang="en-US" sz="4000" dirty="0"/>
              <a:t>阶段一：</a:t>
            </a:r>
            <a:endParaRPr lang="en-US" altLang="zh-CN" sz="4000" dirty="0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21B2A2-BF38-2180-559D-482DB19D1515}"/>
              </a:ext>
            </a:extLst>
          </p:cNvPr>
          <p:cNvSpPr txBox="1"/>
          <p:nvPr/>
        </p:nvSpPr>
        <p:spPr>
          <a:xfrm>
            <a:off x="382941" y="627409"/>
            <a:ext cx="3548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+mn-ea"/>
              </a:rPr>
              <a:t>get_action</a:t>
            </a:r>
            <a:r>
              <a:rPr lang="en-US" altLang="zh-CN" b="1" dirty="0">
                <a:latin typeface="+mn-ea"/>
              </a:rPr>
              <a:t>(self, state)</a:t>
            </a:r>
            <a:r>
              <a:rPr lang="zh-CN" altLang="en-US" b="1" dirty="0">
                <a:latin typeface="+mn-ea"/>
              </a:rPr>
              <a:t>方法</a:t>
            </a:r>
            <a:r>
              <a:rPr lang="zh-CN" altLang="en-US" sz="3200" b="1" dirty="0">
                <a:latin typeface="+mn-ea"/>
              </a:rPr>
              <a:t>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FDC669B-BA8D-5D68-9ACB-650E50F9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21" y="1274954"/>
            <a:ext cx="6871091" cy="201923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736C7BF-7471-374A-BF61-CE53D6C23DBE}"/>
              </a:ext>
            </a:extLst>
          </p:cNvPr>
          <p:cNvSpPr txBox="1"/>
          <p:nvPr/>
        </p:nvSpPr>
        <p:spPr>
          <a:xfrm>
            <a:off x="357554" y="3563816"/>
            <a:ext cx="6160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信息完全透明</a:t>
            </a:r>
            <a:r>
              <a:rPr lang="zh-CN" altLang="en-US" dirty="0"/>
              <a:t>：</a:t>
            </a:r>
            <a:r>
              <a:rPr lang="en-US" altLang="zh-CN" dirty="0"/>
              <a:t>AI</a:t>
            </a:r>
            <a:r>
              <a:rPr lang="zh-CN" altLang="en-US" dirty="0"/>
              <a:t>可全局感知所有元素，无需做信息隐藏。这意味着这是一个“完美信息博弈”</a:t>
            </a:r>
            <a:endParaRPr lang="en-US" altLang="zh-CN" dirty="0"/>
          </a:p>
          <a:p>
            <a:r>
              <a:rPr lang="zh-CN" altLang="en-US" dirty="0"/>
              <a:t>类似于象棋。</a:t>
            </a:r>
            <a:r>
              <a:rPr lang="en-US" altLang="zh-CN" dirty="0"/>
              <a:t>AI</a:t>
            </a:r>
            <a:r>
              <a:rPr lang="zh-CN" altLang="en-US" dirty="0"/>
              <a:t>不需要猜测敌人的位置，挑战在于如何利用这些已有信息做出最优决策。</a:t>
            </a: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258F8D05-43D3-632C-85E6-04FFA0C13924}"/>
              </a:ext>
            </a:extLst>
          </p:cNvPr>
          <p:cNvSpPr/>
          <p:nvPr/>
        </p:nvSpPr>
        <p:spPr>
          <a:xfrm flipV="1">
            <a:off x="6582507" y="3610708"/>
            <a:ext cx="1178169" cy="9612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4BABC0F-6487-4D6B-AC21-9A2DA764A533}"/>
              </a:ext>
            </a:extLst>
          </p:cNvPr>
          <p:cNvSpPr txBox="1"/>
          <p:nvPr/>
        </p:nvSpPr>
        <p:spPr>
          <a:xfrm>
            <a:off x="7760676" y="2840052"/>
            <a:ext cx="3411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A*</a:t>
            </a:r>
            <a:r>
              <a:rPr lang="zh-CN" altLang="en-US" sz="4000" dirty="0"/>
              <a:t>寻路算法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8E6CD0E-1CFE-84AA-C7DD-6B6C2A553F11}"/>
              </a:ext>
            </a:extLst>
          </p:cNvPr>
          <p:cNvSpPr txBox="1"/>
          <p:nvPr/>
        </p:nvSpPr>
        <p:spPr>
          <a:xfrm>
            <a:off x="7688598" y="450166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威胁场算法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0505" y="209550"/>
            <a:ext cx="3931920" cy="527050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阶段二：</a:t>
            </a:r>
            <a:endParaRPr lang="en-US" altLang="zh-CN" sz="4000" dirty="0"/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96EA128C-21A8-AB8F-DA32-5D1603A93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58" y="2355152"/>
            <a:ext cx="83800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威胁场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ThreatField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感知并量化全图的当前与未来危险。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战术评估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TacticalEvaluator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从生存角度评估特定位置的战术价值（掩体、机动空间）。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自适应策略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AdaptiveStrategy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根据宏观局势（血量、敌人数量）确定当前的总体作战方针（进攻/防守/均衡）。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最后，用一个融合了危险感知的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Risk-aware A*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算法，根据作战方针选择的目标，规划出一条既高效又安全的行动路径。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2F5C65-F0EF-AD05-B18A-049000BAAD79}"/>
              </a:ext>
            </a:extLst>
          </p:cNvPr>
          <p:cNvSpPr txBox="1"/>
          <p:nvPr/>
        </p:nvSpPr>
        <p:spPr>
          <a:xfrm>
            <a:off x="508833" y="1480117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基于动态风险评估的自适应战术决策系统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69143C-CA3B-E5E4-D753-578AAAC6B1D4}"/>
              </a:ext>
            </a:extLst>
          </p:cNvPr>
          <p:cNvSpPr txBox="1"/>
          <p:nvPr/>
        </p:nvSpPr>
        <p:spPr>
          <a:xfrm>
            <a:off x="508833" y="4660900"/>
            <a:ext cx="20585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关键参数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DANGER_K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FUTURE_WEIGHT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策略模式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A0B167E-67AF-9855-4A1E-E648EE19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50" y="4480110"/>
            <a:ext cx="4634514" cy="1951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55880"/>
            <a:ext cx="3931920" cy="56578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细节处理</a:t>
            </a:r>
            <a:r>
              <a:rPr lang="en-US" altLang="zh-CN" sz="4000" dirty="0"/>
              <a:t>: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86800" y="6356349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11A7B17F-73DD-7541-4F18-41347D00F9C6}"/>
              </a:ext>
            </a:extLst>
          </p:cNvPr>
          <p:cNvSpPr txBox="1">
            <a:spLocks/>
          </p:cNvSpPr>
          <p:nvPr/>
        </p:nvSpPr>
        <p:spPr>
          <a:xfrm>
            <a:off x="4149969" y="63563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Y. L. Tank Game</a:t>
            </a:r>
          </a:p>
        </p:txBody>
      </p:sp>
      <p:pic>
        <p:nvPicPr>
          <p:cNvPr id="13" name="图片 12" descr="电脑屏幕的截图">
            <a:extLst>
              <a:ext uri="{FF2B5EF4-FFF2-40B4-BE49-F238E27FC236}">
                <a16:creationId xmlns:a16="http://schemas.microsoft.com/office/drawing/2014/main" id="{E6EADA15-5DD1-A17C-412F-8FBDC28C9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417" y="3282433"/>
            <a:ext cx="5065840" cy="2835050"/>
          </a:xfrm>
          <a:prstGeom prst="rect">
            <a:avLst/>
          </a:prstGeom>
        </p:spPr>
      </p:pic>
      <p:pic>
        <p:nvPicPr>
          <p:cNvPr id="24" name="图片 23" descr="屏幕上有字&#10;&#10;AI 生成的内容可能不正确。">
            <a:extLst>
              <a:ext uri="{FF2B5EF4-FFF2-40B4-BE49-F238E27FC236}">
                <a16:creationId xmlns:a16="http://schemas.microsoft.com/office/drawing/2014/main" id="{D5843C59-6DD3-3A9A-144C-2E6DA2BF3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060" y="509910"/>
            <a:ext cx="5007884" cy="245638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36B81A0C-A52A-FC94-DB11-8F5FAD06255D}"/>
              </a:ext>
            </a:extLst>
          </p:cNvPr>
          <p:cNvSpPr txBox="1"/>
          <p:nvPr/>
        </p:nvSpPr>
        <p:spPr>
          <a:xfrm>
            <a:off x="838199" y="5133346"/>
            <a:ext cx="371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判断</a:t>
            </a:r>
            <a:r>
              <a:rPr lang="en-US" altLang="zh-CN" dirty="0"/>
              <a:t>AI</a:t>
            </a:r>
            <a:r>
              <a:rPr lang="zh-CN" altLang="en-US" dirty="0"/>
              <a:t>直线是否和对手有交集</a:t>
            </a:r>
            <a:endParaRPr lang="en-US" altLang="zh-CN" dirty="0"/>
          </a:p>
          <a:p>
            <a:r>
              <a:rPr lang="zh-CN" altLang="en-US" dirty="0"/>
              <a:t>来进行不同的评分决策判断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B1548A-04A4-3955-5529-6EBC2D0F8638}"/>
              </a:ext>
            </a:extLst>
          </p:cNvPr>
          <p:cNvSpPr txBox="1"/>
          <p:nvPr/>
        </p:nvSpPr>
        <p:spPr>
          <a:xfrm>
            <a:off x="701899" y="2575225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“</a:t>
            </a:r>
            <a:r>
              <a:rPr lang="zh-CN" altLang="en-US" b="1" dirty="0"/>
              <a:t>移动是为了更好的瞄准敌人</a:t>
            </a:r>
            <a:r>
              <a:rPr lang="en-US" altLang="zh-CN" b="1" dirty="0"/>
              <a:t>”</a:t>
            </a:r>
            <a:endParaRPr lang="zh-CN" altLang="en-US" b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3629ADD-4A2F-5656-40AE-08AF599496B0}"/>
              </a:ext>
            </a:extLst>
          </p:cNvPr>
          <p:cNvSpPr txBox="1"/>
          <p:nvPr/>
        </p:nvSpPr>
        <p:spPr>
          <a:xfrm>
            <a:off x="4681519" y="2575225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AIM_BONUS=150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A4B0DC-9492-F5A4-7185-5C23C4D6EA21}"/>
              </a:ext>
            </a:extLst>
          </p:cNvPr>
          <p:cNvSpPr txBox="1"/>
          <p:nvPr/>
        </p:nvSpPr>
        <p:spPr>
          <a:xfrm>
            <a:off x="838199" y="1075800"/>
            <a:ext cx="5677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正向射线投射找出自己的火力区间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171FDE-7608-76D8-1956-B2CC9CF33C3B}"/>
              </a:ext>
            </a:extLst>
          </p:cNvPr>
          <p:cNvSpPr txBox="1"/>
          <p:nvPr/>
        </p:nvSpPr>
        <p:spPr>
          <a:xfrm>
            <a:off x="65405" y="4033456"/>
            <a:ext cx="6460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逆向射线投射</a:t>
            </a:r>
            <a:r>
              <a:rPr lang="en-US" altLang="zh-CN" sz="2800" dirty="0"/>
              <a:t>,</a:t>
            </a:r>
            <a:r>
              <a:rPr lang="zh-CN" altLang="en-US" sz="2800" dirty="0"/>
              <a:t> 找出对手的火力覆盖范围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3227705" cy="59753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自适应算法</a:t>
            </a:r>
            <a:r>
              <a:rPr lang="en-US" altLang="zh-CN" sz="4000" dirty="0"/>
              <a:t>:</a:t>
            </a:r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B05354-6EEC-C65D-B263-3FEFB88C7DF3}"/>
              </a:ext>
            </a:extLst>
          </p:cNvPr>
          <p:cNvSpPr txBox="1"/>
          <p:nvPr/>
        </p:nvSpPr>
        <p:spPr>
          <a:xfrm>
            <a:off x="8194431" y="5375030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坦克血越多，坦克越保守</a:t>
            </a:r>
            <a:endParaRPr lang="en-US" altLang="zh-CN" dirty="0"/>
          </a:p>
          <a:p>
            <a:r>
              <a:rPr lang="zh-CN" altLang="en-US" dirty="0"/>
              <a:t>坦克血越少，坦克越激进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068BB12-7C62-B6E5-73D7-5DF80EA7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10" y="847535"/>
            <a:ext cx="6839770" cy="401011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80776B6-7219-03AD-534F-2D634EDE6BDD}"/>
              </a:ext>
            </a:extLst>
          </p:cNvPr>
          <p:cNvSpPr txBox="1"/>
          <p:nvPr/>
        </p:nvSpPr>
        <p:spPr>
          <a:xfrm>
            <a:off x="7454136" y="3909646"/>
            <a:ext cx="5056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Survival</a:t>
            </a:r>
            <a:r>
              <a:rPr lang="zh-CN" altLang="en-US" dirty="0"/>
              <a:t>：存活指数，越高对危险的区域越远离</a:t>
            </a:r>
            <a:endParaRPr lang="en-US" altLang="zh-CN" dirty="0"/>
          </a:p>
          <a:p>
            <a:r>
              <a:rPr lang="en-US" altLang="zh-CN" dirty="0"/>
              <a:t>Attack</a:t>
            </a:r>
            <a:r>
              <a:rPr lang="zh-CN" altLang="en-US" dirty="0"/>
              <a:t>：攻击欲望，越高攻击越激进，杀人得分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E79F58AA-276C-593C-6052-3E58481BC596}"/>
              </a:ext>
            </a:extLst>
          </p:cNvPr>
          <p:cNvSpPr/>
          <p:nvPr/>
        </p:nvSpPr>
        <p:spPr>
          <a:xfrm>
            <a:off x="9577754" y="4555977"/>
            <a:ext cx="193431" cy="742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4605655" cy="587375"/>
          </a:xfrm>
        </p:spPr>
        <p:txBody>
          <a:bodyPr>
            <a:noAutofit/>
          </a:bodyPr>
          <a:lstStyle/>
          <a:p>
            <a:r>
              <a:rPr lang="en-US" altLang="zh-CN" sz="4000" dirty="0"/>
              <a:t>A-STAR</a:t>
            </a:r>
            <a:r>
              <a:rPr lang="zh-CN" altLang="en-US" sz="4000" dirty="0"/>
              <a:t>算法</a:t>
            </a:r>
            <a:r>
              <a:rPr lang="en-US" altLang="zh-CN" sz="4000" dirty="0"/>
              <a:t>:</a:t>
            </a: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5EF09A8-9E44-76B1-041E-9BE6DAB1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152" y="1224700"/>
            <a:ext cx="2666801" cy="15875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F8A1C7C-BF67-2DDF-D6D6-5BB8E08E3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039" y="1213130"/>
            <a:ext cx="2813492" cy="1635297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D326E3-56D0-D6BE-7E8F-09BF4C1A3BC1}"/>
              </a:ext>
            </a:extLst>
          </p:cNvPr>
          <p:cNvSpPr txBox="1"/>
          <p:nvPr/>
        </p:nvSpPr>
        <p:spPr>
          <a:xfrm>
            <a:off x="114145" y="718961"/>
            <a:ext cx="2133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BFS</a:t>
            </a:r>
            <a:r>
              <a:rPr lang="zh-CN" altLang="en-US" dirty="0"/>
              <a:t>广度优先算法：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02BCD-1B36-0667-E4B8-0B38C42BB8D3}"/>
              </a:ext>
            </a:extLst>
          </p:cNvPr>
          <p:cNvSpPr txBox="1"/>
          <p:nvPr/>
        </p:nvSpPr>
        <p:spPr>
          <a:xfrm>
            <a:off x="1181072" y="4316945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A*</a:t>
            </a:r>
            <a:r>
              <a:rPr lang="zh-CN" altLang="en-US" dirty="0"/>
              <a:t>算法</a:t>
            </a:r>
            <a:r>
              <a:rPr lang="en-US" altLang="zh-CN" dirty="0"/>
              <a:t>————</a:t>
            </a:r>
            <a:r>
              <a:rPr lang="zh-CN" altLang="en-US" dirty="0"/>
              <a:t>启发式搜索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DBAFCB8-674D-1580-2D83-4FE657AC9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770" y="3819750"/>
            <a:ext cx="4492007" cy="73440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B368050-4D6F-93A9-CA14-E8C4683E2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3" y="1162306"/>
            <a:ext cx="4847259" cy="281980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10FFA2E0-9866-209E-FA02-38D79FEBC9D8}"/>
              </a:ext>
            </a:extLst>
          </p:cNvPr>
          <p:cNvSpPr txBox="1"/>
          <p:nvPr/>
        </p:nvSpPr>
        <p:spPr>
          <a:xfrm>
            <a:off x="5521152" y="4002285"/>
            <a:ext cx="1818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风险感知机制：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3189F84-4622-EB42-58B8-8BCD08D8A54C}"/>
              </a:ext>
            </a:extLst>
          </p:cNvPr>
          <p:cNvSpPr txBox="1"/>
          <p:nvPr/>
        </p:nvSpPr>
        <p:spPr>
          <a:xfrm>
            <a:off x="5333183" y="745277"/>
            <a:ext cx="2854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当前代价</a:t>
            </a:r>
            <a:r>
              <a:rPr lang="en-US" altLang="zh-CN" dirty="0"/>
              <a:t>==</a:t>
            </a:r>
            <a:r>
              <a:rPr lang="zh-CN" altLang="en-US" dirty="0"/>
              <a:t>走出的步数</a:t>
            </a:r>
            <a:r>
              <a:rPr lang="en-US" altLang="zh-CN" b="1" dirty="0"/>
              <a:t>g(N)</a:t>
            </a:r>
            <a:endParaRPr lang="zh-CN" altLang="en-US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C99A2B2-FDB4-FCA6-98EF-CD8C5E5C3C0B}"/>
              </a:ext>
            </a:extLst>
          </p:cNvPr>
          <p:cNvSpPr txBox="1"/>
          <p:nvPr/>
        </p:nvSpPr>
        <p:spPr>
          <a:xfrm>
            <a:off x="8746813" y="772795"/>
            <a:ext cx="3215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预计代价</a:t>
            </a:r>
            <a:r>
              <a:rPr lang="en-US" altLang="zh-CN" sz="2000" dirty="0"/>
              <a:t>==</a:t>
            </a:r>
            <a:r>
              <a:rPr lang="zh-CN" altLang="en-US" sz="2000" dirty="0"/>
              <a:t>曼哈顿距离</a:t>
            </a:r>
            <a:r>
              <a:rPr lang="en-US" altLang="zh-CN" sz="2000" b="1" dirty="0"/>
              <a:t>h(N)</a:t>
            </a:r>
            <a:endParaRPr lang="zh-CN" altLang="en-US" sz="2000" b="1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C8244DB-5489-4C25-781A-9FCCF79B6952}"/>
              </a:ext>
            </a:extLst>
          </p:cNvPr>
          <p:cNvSpPr txBox="1"/>
          <p:nvPr/>
        </p:nvSpPr>
        <p:spPr>
          <a:xfrm>
            <a:off x="5615487" y="4833160"/>
            <a:ext cx="4416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</a:t>
            </a:r>
            <a:r>
              <a:rPr lang="zh-CN" altLang="en-US" dirty="0"/>
              <a:t>为当前点和目标点的距离</a:t>
            </a:r>
            <a:endParaRPr lang="en-US" altLang="zh-CN" dirty="0"/>
          </a:p>
          <a:p>
            <a:r>
              <a:rPr lang="en-US" altLang="zh-CN" dirty="0"/>
              <a:t>1.0</a:t>
            </a:r>
            <a:r>
              <a:rPr lang="zh-CN" altLang="en-US" dirty="0"/>
              <a:t>为这一步的移动成本</a:t>
            </a:r>
            <a:endParaRPr lang="en-US" altLang="zh-CN" dirty="0"/>
          </a:p>
          <a:p>
            <a:r>
              <a:rPr lang="en-US" altLang="zh-CN" dirty="0"/>
              <a:t>DANGER_K</a:t>
            </a:r>
            <a:r>
              <a:rPr lang="zh-CN" altLang="en-US" dirty="0"/>
              <a:t>为危险系数，系数越大</a:t>
            </a:r>
            <a:r>
              <a:rPr lang="en-US" altLang="zh-CN" dirty="0"/>
              <a:t>AI</a:t>
            </a:r>
            <a:r>
              <a:rPr lang="zh-CN" altLang="en-US" dirty="0"/>
              <a:t>越保守</a:t>
            </a:r>
          </a:p>
        </p:txBody>
      </p:sp>
      <p:sp>
        <p:nvSpPr>
          <p:cNvPr id="37" name="加号 36">
            <a:extLst>
              <a:ext uri="{FF2B5EF4-FFF2-40B4-BE49-F238E27FC236}">
                <a16:creationId xmlns:a16="http://schemas.microsoft.com/office/drawing/2014/main" id="{49C63B91-DCFE-E03C-7471-0B9AA5B4DDDE}"/>
              </a:ext>
            </a:extLst>
          </p:cNvPr>
          <p:cNvSpPr/>
          <p:nvPr/>
        </p:nvSpPr>
        <p:spPr>
          <a:xfrm>
            <a:off x="8345344" y="748546"/>
            <a:ext cx="354541" cy="400111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AE0BDB-B331-46BF-E63B-332CC242E3B9}"/>
              </a:ext>
            </a:extLst>
          </p:cNvPr>
          <p:cNvSpPr txBox="1"/>
          <p:nvPr/>
        </p:nvSpPr>
        <p:spPr>
          <a:xfrm>
            <a:off x="4674364" y="745277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F(N)=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F3D104-45DE-5BF0-21FC-4FBB4B33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9F0753-CC29-FD00-9794-AB63588B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588636-C024-6D19-6D45-CB7DD91F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5A86FD-0CD3-0CC6-5A15-70D7BD4607D0}"/>
              </a:ext>
            </a:extLst>
          </p:cNvPr>
          <p:cNvSpPr txBox="1"/>
          <p:nvPr/>
        </p:nvSpPr>
        <p:spPr>
          <a:xfrm>
            <a:off x="196381" y="23320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示例演示：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C08806-5B41-AF2D-C541-56374EB39523}"/>
              </a:ext>
            </a:extLst>
          </p:cNvPr>
          <p:cNvSpPr txBox="1"/>
          <p:nvPr/>
        </p:nvSpPr>
        <p:spPr>
          <a:xfrm>
            <a:off x="2350949" y="1160469"/>
            <a:ext cx="1505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Danger_K</a:t>
            </a:r>
            <a:r>
              <a:rPr lang="en-US" altLang="zh-CN" dirty="0"/>
              <a:t>=0.1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2871BB-2D1E-7DCE-A77C-99626A816BEA}"/>
              </a:ext>
            </a:extLst>
          </p:cNvPr>
          <p:cNvSpPr txBox="1"/>
          <p:nvPr/>
        </p:nvSpPr>
        <p:spPr>
          <a:xfrm>
            <a:off x="8438931" y="1154495"/>
            <a:ext cx="167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Danger_K</a:t>
            </a:r>
            <a:r>
              <a:rPr lang="en-US" altLang="zh-CN" dirty="0"/>
              <a:t>=1.0</a:t>
            </a:r>
            <a:endParaRPr lang="zh-CN" altLang="en-US" dirty="0"/>
          </a:p>
        </p:txBody>
      </p:sp>
      <p:pic>
        <p:nvPicPr>
          <p:cNvPr id="17" name="Dangder_k=0.1">
            <a:hlinkClick r:id="" action="ppaction://media"/>
            <a:extLst>
              <a:ext uri="{FF2B5EF4-FFF2-40B4-BE49-F238E27FC236}">
                <a16:creationId xmlns:a16="http://schemas.microsoft.com/office/drawing/2014/main" id="{CFBD21D2-F944-4DF2-93F7-6C97261DF1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650" y="2125460"/>
            <a:ext cx="5827484" cy="3642178"/>
          </a:xfrm>
          <a:prstGeom prst="rect">
            <a:avLst/>
          </a:prstGeom>
        </p:spPr>
      </p:pic>
      <p:pic>
        <p:nvPicPr>
          <p:cNvPr id="18" name="Danger_k=1.0">
            <a:hlinkClick r:id="" action="ppaction://media"/>
            <a:extLst>
              <a:ext uri="{FF2B5EF4-FFF2-40B4-BE49-F238E27FC236}">
                <a16:creationId xmlns:a16="http://schemas.microsoft.com/office/drawing/2014/main" id="{AF013D65-FD3A-B4BE-9344-D77DB356C68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33729" y="2043718"/>
            <a:ext cx="5958271" cy="372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0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06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0808A-E406-AAD8-3FCA-ED4F6BA6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2C886-4EAF-322D-2804-E1C4D021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215"/>
            <a:ext cx="2743200" cy="5854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战术评估</a:t>
            </a:r>
            <a:r>
              <a:rPr lang="en-US" altLang="zh-CN" dirty="0"/>
              <a:t>: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6464FD-DDDD-0596-8226-7D98A59A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73073E-E9DC-F307-07CC-A685391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6070" y="6356350"/>
            <a:ext cx="4114800" cy="365125"/>
          </a:xfrm>
        </p:spPr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AEBC9D-D45B-FF74-1A7A-D5D644C6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A4F69E-C0E3-F7CE-4B85-536EC3213CEE}"/>
              </a:ext>
            </a:extLst>
          </p:cNvPr>
          <p:cNvSpPr txBox="1"/>
          <p:nvPr/>
        </p:nvSpPr>
        <p:spPr>
          <a:xfrm>
            <a:off x="102556" y="5198715"/>
            <a:ext cx="822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只关心现在可以做的事情，当</a:t>
            </a:r>
            <a:r>
              <a:rPr lang="en-US" altLang="zh-CN" dirty="0"/>
              <a:t>A-star</a:t>
            </a:r>
            <a:r>
              <a:rPr lang="zh-CN" altLang="en-US" dirty="0"/>
              <a:t>算法受挫时成为一个轻量化的小</a:t>
            </a:r>
            <a:r>
              <a:rPr lang="en-US" altLang="zh-CN" dirty="0"/>
              <a:t>BFS</a:t>
            </a:r>
            <a:r>
              <a:rPr lang="zh-CN" altLang="en-US" dirty="0"/>
              <a:t>算法工具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BD1BF7-AFC0-FF68-C2B6-3AC72F5D542C}"/>
              </a:ext>
            </a:extLst>
          </p:cNvPr>
          <p:cNvSpPr txBox="1"/>
          <p:nvPr/>
        </p:nvSpPr>
        <p:spPr>
          <a:xfrm>
            <a:off x="3024620" y="562754"/>
            <a:ext cx="212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“局部而非全局”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36CB4AC-4402-1A5E-DB16-7B91F0AD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5" y="1052358"/>
            <a:ext cx="6513641" cy="26279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6D55A76-D3D1-09C5-C4D2-8DBA25805D52}"/>
              </a:ext>
            </a:extLst>
          </p:cNvPr>
          <p:cNvSpPr txBox="1"/>
          <p:nvPr/>
        </p:nvSpPr>
        <p:spPr>
          <a:xfrm>
            <a:off x="2840388" y="35179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C4E609-CD86-9925-4C07-EF0D02026D50}"/>
              </a:ext>
            </a:extLst>
          </p:cNvPr>
          <p:cNvSpPr txBox="1"/>
          <p:nvPr/>
        </p:nvSpPr>
        <p:spPr>
          <a:xfrm>
            <a:off x="102556" y="3654665"/>
            <a:ext cx="67329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作用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zh-CN" altLang="en-US" b="1" dirty="0"/>
              <a:t>当</a:t>
            </a:r>
            <a:r>
              <a:rPr lang="en-US" altLang="zh-CN" b="1" dirty="0"/>
              <a:t>A-STAR</a:t>
            </a:r>
            <a:r>
              <a:rPr lang="zh-CN" altLang="en-US" b="1" dirty="0"/>
              <a:t>算法无法给现状做决策时</a:t>
            </a:r>
            <a:endParaRPr lang="en-US" altLang="zh-CN" b="1" dirty="0"/>
          </a:p>
          <a:p>
            <a:r>
              <a:rPr lang="zh-CN" altLang="en-US" dirty="0"/>
              <a:t>提供给单个格子</a:t>
            </a:r>
            <a:r>
              <a:rPr lang="en-US" altLang="zh-CN" dirty="0"/>
              <a:t>/</a:t>
            </a:r>
            <a:r>
              <a:rPr lang="zh-CN" altLang="en-US" dirty="0"/>
              <a:t>邻居格子打“战术分”或测量战术特征的工具</a:t>
            </a:r>
            <a:endParaRPr lang="en-US" altLang="zh-CN" dirty="0"/>
          </a:p>
          <a:p>
            <a:r>
              <a:rPr lang="zh-CN" altLang="en-US" dirty="0"/>
              <a:t>这些工具被备援评分器和自适应策略使用</a:t>
            </a:r>
            <a:endParaRPr lang="en-US" altLang="zh-CN" dirty="0"/>
          </a:p>
          <a:p>
            <a:r>
              <a:rPr lang="zh-CN" altLang="en-US" dirty="0"/>
              <a:t>最终得到一个局部决策来帮助</a:t>
            </a:r>
            <a:r>
              <a:rPr lang="en-US" altLang="zh-CN" dirty="0"/>
              <a:t>AI</a:t>
            </a:r>
            <a:r>
              <a:rPr lang="zh-CN" altLang="en-US" dirty="0"/>
              <a:t>“短视”的做出最优解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FFC303-47AD-785D-A2A9-1E1BE37D7387}"/>
              </a:ext>
            </a:extLst>
          </p:cNvPr>
          <p:cNvSpPr txBox="1"/>
          <p:nvPr/>
        </p:nvSpPr>
        <p:spPr>
          <a:xfrm>
            <a:off x="6713175" y="2540682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有多少安全格子，不在危险区，不被墙占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CE7A08-F1B5-07EE-9844-F700EBB57617}"/>
              </a:ext>
            </a:extLst>
          </p:cNvPr>
          <p:cNvSpPr txBox="1"/>
          <p:nvPr/>
        </p:nvSpPr>
        <p:spPr>
          <a:xfrm>
            <a:off x="6713175" y="293483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衡量该格子能联通多少安全格子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E70999-4BD5-2F63-11B8-E9C13B1E3B04}"/>
              </a:ext>
            </a:extLst>
          </p:cNvPr>
          <p:cNvSpPr txBox="1"/>
          <p:nvPr/>
        </p:nvSpPr>
        <p:spPr>
          <a:xfrm>
            <a:off x="6713175" y="334307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当前位置和目标是否畅通</a:t>
            </a:r>
          </a:p>
        </p:txBody>
      </p:sp>
    </p:spTree>
    <p:extLst>
      <p:ext uri="{BB962C8B-B14F-4D97-AF65-F5344CB8AC3E}">
        <p14:creationId xmlns:p14="http://schemas.microsoft.com/office/powerpoint/2010/main" val="236417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69215"/>
            <a:ext cx="2743200" cy="5854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备援评分器</a:t>
            </a:r>
            <a:r>
              <a:rPr lang="en-US" altLang="zh-CN" dirty="0"/>
              <a:t>: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16070" y="6356350"/>
            <a:ext cx="4114800" cy="365125"/>
          </a:xfrm>
        </p:spPr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83F1D0B-1D6E-BE47-9172-123439B7D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891990"/>
            <a:ext cx="6340309" cy="401552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029C284-A812-3521-99EF-DE7DA3CD0553}"/>
              </a:ext>
            </a:extLst>
          </p:cNvPr>
          <p:cNvSpPr txBox="1"/>
          <p:nvPr/>
        </p:nvSpPr>
        <p:spPr>
          <a:xfrm>
            <a:off x="457200" y="5196443"/>
            <a:ext cx="10270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 </a:t>
            </a:r>
            <a:r>
              <a:rPr lang="en-US" altLang="zh-CN" dirty="0"/>
              <a:t>A* </a:t>
            </a:r>
            <a:r>
              <a:rPr lang="zh-CN" altLang="en-US" dirty="0"/>
              <a:t>无法给出可靠多步规划时，使用战术评估工具和威胁场的</a:t>
            </a:r>
            <a:r>
              <a:rPr lang="en-US" altLang="zh-CN" dirty="0" err="1"/>
              <a:t>danger_map</a:t>
            </a:r>
            <a:endParaRPr lang="en-US" altLang="zh-CN" dirty="0"/>
          </a:p>
          <a:p>
            <a:r>
              <a:rPr lang="zh-CN" altLang="en-US" dirty="0"/>
              <a:t>通过把“进攻价值 </a:t>
            </a:r>
            <a:r>
              <a:rPr lang="en-US" altLang="zh-CN" dirty="0"/>
              <a:t>/ </a:t>
            </a:r>
            <a:r>
              <a:rPr lang="zh-CN" altLang="en-US" dirty="0"/>
              <a:t>生存惩罚 </a:t>
            </a:r>
            <a:r>
              <a:rPr lang="en-US" altLang="zh-CN" dirty="0"/>
              <a:t>/ </a:t>
            </a:r>
            <a:r>
              <a:rPr lang="zh-CN" altLang="en-US" dirty="0"/>
              <a:t>机动性”线性加权并减去循环惩罚，快速选出当前最合适的单步行动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E7BEDC-BFC3-615C-E9E3-96218299D925}"/>
              </a:ext>
            </a:extLst>
          </p:cNvPr>
          <p:cNvSpPr txBox="1"/>
          <p:nvPr/>
        </p:nvSpPr>
        <p:spPr>
          <a:xfrm>
            <a:off x="7547258" y="568768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A*</a:t>
            </a:r>
            <a:r>
              <a:rPr lang="zh-CN" altLang="en-US" b="1" dirty="0"/>
              <a:t>算法为什么会失败？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AA8916-E05F-7735-97A0-85C99ACCCA85}"/>
              </a:ext>
            </a:extLst>
          </p:cNvPr>
          <p:cNvSpPr txBox="1"/>
          <p:nvPr/>
        </p:nvSpPr>
        <p:spPr>
          <a:xfrm>
            <a:off x="7579088" y="1135329"/>
            <a:ext cx="2455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1.A*</a:t>
            </a:r>
            <a:r>
              <a:rPr lang="zh-CN" altLang="en-US" dirty="0"/>
              <a:t>算法的目标不可达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28858F-9B8C-8EDC-A425-1EE00BB62BFE}"/>
              </a:ext>
            </a:extLst>
          </p:cNvPr>
          <p:cNvSpPr txBox="1"/>
          <p:nvPr/>
        </p:nvSpPr>
        <p:spPr>
          <a:xfrm>
            <a:off x="7579088" y="1762326"/>
            <a:ext cx="205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禁止反向的规则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8AAF7C-8406-951A-50FA-85E5B67DD5D1}"/>
              </a:ext>
            </a:extLst>
          </p:cNvPr>
          <p:cNvSpPr txBox="1"/>
          <p:nvPr/>
        </p:nvSpPr>
        <p:spPr>
          <a:xfrm>
            <a:off x="7579088" y="2389324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最大节点展开限制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43" y="-2346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+mj-ea"/>
                <a:cs typeface="+mj-ea"/>
              </a:rPr>
              <a:t>总结</a:t>
            </a:r>
            <a:r>
              <a:rPr lang="en-US" altLang="zh-CN" sz="4000" dirty="0">
                <a:latin typeface="+mj-ea"/>
                <a:cs typeface="+mj-ea"/>
              </a:rPr>
              <a:t>: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2025/12/19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03A982-310E-0948-405D-965FDFED2538}"/>
              </a:ext>
            </a:extLst>
          </p:cNvPr>
          <p:cNvSpPr txBox="1"/>
          <p:nvPr/>
        </p:nvSpPr>
        <p:spPr>
          <a:xfrm>
            <a:off x="977900" y="1766888"/>
            <a:ext cx="786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一款</a:t>
            </a:r>
            <a:r>
              <a:rPr lang="zh-CN" altLang="en-US" sz="2400" b="1" dirty="0"/>
              <a:t>结合多步规划 </a:t>
            </a:r>
            <a:r>
              <a:rPr lang="en-US" altLang="zh-CN" sz="2400" b="1" dirty="0"/>
              <a:t>+ </a:t>
            </a:r>
            <a:r>
              <a:rPr lang="zh-CN" altLang="en-US" sz="2400" b="1" dirty="0"/>
              <a:t>风险评估 </a:t>
            </a:r>
            <a:r>
              <a:rPr lang="en-US" altLang="zh-CN" sz="2400" b="1" dirty="0"/>
              <a:t>+ </a:t>
            </a:r>
            <a:r>
              <a:rPr lang="zh-CN" altLang="en-US" sz="2400" b="1" dirty="0"/>
              <a:t>自适应策略</a:t>
            </a:r>
            <a:r>
              <a:rPr lang="zh-CN" altLang="en-US" sz="2400" dirty="0"/>
              <a:t>的坦克大战 </a:t>
            </a:r>
            <a:r>
              <a:rPr lang="en-US" altLang="zh-CN" sz="2400" dirty="0"/>
              <a:t>AI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2C5BA1-ADDC-405C-C1E9-3DC971F0377D}"/>
              </a:ext>
            </a:extLst>
          </p:cNvPr>
          <p:cNvSpPr txBox="1"/>
          <p:nvPr/>
        </p:nvSpPr>
        <p:spPr>
          <a:xfrm>
            <a:off x="215900" y="305166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更新威胁场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FECF331-4D16-A13E-FABE-7A0B7CBCFDB4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1554728" y="3236332"/>
            <a:ext cx="560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F2A0799-16A3-2EB0-BA0E-1AAB08D5C01D}"/>
              </a:ext>
            </a:extLst>
          </p:cNvPr>
          <p:cNvSpPr txBox="1"/>
          <p:nvPr/>
        </p:nvSpPr>
        <p:spPr>
          <a:xfrm>
            <a:off x="2115587" y="30516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战术评估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776539-1B9D-C4B4-D79A-699C676D7248}"/>
              </a:ext>
            </a:extLst>
          </p:cNvPr>
          <p:cNvSpPr txBox="1"/>
          <p:nvPr/>
        </p:nvSpPr>
        <p:spPr>
          <a:xfrm>
            <a:off x="3836771" y="3051666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策略调整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15FFD47-F34C-9239-9C56-C4A21BEAC47C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4944767" y="3236332"/>
            <a:ext cx="5289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974E724-F908-E664-FCA8-5E07B2F556A3}"/>
              </a:ext>
            </a:extLst>
          </p:cNvPr>
          <p:cNvSpPr txBox="1"/>
          <p:nvPr/>
        </p:nvSpPr>
        <p:spPr>
          <a:xfrm>
            <a:off x="5473700" y="3051666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生成目标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FBA3BBC-CD6C-0276-3113-86A75D764F0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223583" y="3236332"/>
            <a:ext cx="613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6886497-A22A-B174-88E5-03D338DD09C7}"/>
              </a:ext>
            </a:extLst>
          </p:cNvPr>
          <p:cNvSpPr txBox="1"/>
          <p:nvPr/>
        </p:nvSpPr>
        <p:spPr>
          <a:xfrm>
            <a:off x="7332545" y="3051666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A*</a:t>
            </a:r>
            <a:r>
              <a:rPr lang="zh-CN" altLang="en-US" dirty="0"/>
              <a:t>寻路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50B6B8B-1D25-2C88-3B7F-E28EF9C9A037}"/>
              </a:ext>
            </a:extLst>
          </p:cNvPr>
          <p:cNvCxnSpPr>
            <a:stCxn id="16" idx="3"/>
            <a:endCxn id="30" idx="1"/>
          </p:cNvCxnSpPr>
          <p:nvPr/>
        </p:nvCxnSpPr>
        <p:spPr>
          <a:xfrm>
            <a:off x="6581696" y="3236332"/>
            <a:ext cx="7508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568C20A-DEE3-1FA4-F9DB-83FBEB312436}"/>
              </a:ext>
            </a:extLst>
          </p:cNvPr>
          <p:cNvCxnSpPr>
            <a:cxnSpLocks/>
            <a:stCxn id="30" idx="3"/>
            <a:endCxn id="38" idx="1"/>
          </p:cNvCxnSpPr>
          <p:nvPr/>
        </p:nvCxnSpPr>
        <p:spPr>
          <a:xfrm flipV="1">
            <a:off x="8227342" y="2703855"/>
            <a:ext cx="613608" cy="532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2A17482-1741-6B5D-4378-8ADDD623A003}"/>
              </a:ext>
            </a:extLst>
          </p:cNvPr>
          <p:cNvCxnSpPr>
            <a:cxnSpLocks/>
            <a:stCxn id="30" idx="3"/>
            <a:endCxn id="39" idx="1"/>
          </p:cNvCxnSpPr>
          <p:nvPr/>
        </p:nvCxnSpPr>
        <p:spPr>
          <a:xfrm>
            <a:off x="8227342" y="3236332"/>
            <a:ext cx="613608" cy="64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AAF74B5-2D8F-0922-D1E5-1D7D3B24D850}"/>
              </a:ext>
            </a:extLst>
          </p:cNvPr>
          <p:cNvSpPr txBox="1"/>
          <p:nvPr/>
        </p:nvSpPr>
        <p:spPr>
          <a:xfrm>
            <a:off x="8840950" y="25191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成功，执行动作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AD8FA6A-76F2-E95F-14F4-4626ABE58905}"/>
              </a:ext>
            </a:extLst>
          </p:cNvPr>
          <p:cNvSpPr txBox="1"/>
          <p:nvPr/>
        </p:nvSpPr>
        <p:spPr>
          <a:xfrm>
            <a:off x="8840950" y="3562622"/>
            <a:ext cx="2946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失败，执行备援评分器</a:t>
            </a:r>
            <a:endParaRPr lang="en-US" altLang="zh-CN" dirty="0"/>
          </a:p>
          <a:p>
            <a:r>
              <a:rPr lang="zh-CN" altLang="en-US" dirty="0"/>
              <a:t>对 </a:t>
            </a:r>
            <a:r>
              <a:rPr lang="en-US" altLang="zh-CN" dirty="0"/>
              <a:t>4 </a:t>
            </a:r>
            <a:r>
              <a:rPr lang="zh-CN" altLang="en-US" dirty="0"/>
              <a:t>邻格打分，取最优行动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Thanks!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/>
              <a:pPr/>
              <a:t>2025/12/19</a:t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Y. L. Tank Game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lZjJkZGIyNzA4MTIyMTI5MzM0YzU5ZWNhNDZlMz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719</Words>
  <Application>Microsoft Office PowerPoint</Application>
  <PresentationFormat>宽屏</PresentationFormat>
  <Paragraphs>106</Paragraphs>
  <Slides>11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WPS</vt:lpstr>
      <vt:lpstr>Y. L. Tank Game</vt:lpstr>
      <vt:lpstr>阶段一：</vt:lpstr>
      <vt:lpstr>阶段二：</vt:lpstr>
      <vt:lpstr>细节处理:</vt:lpstr>
      <vt:lpstr>自适应算法:</vt:lpstr>
      <vt:lpstr>A-STAR算法:</vt:lpstr>
      <vt:lpstr>PowerPoint 演示文稿</vt:lpstr>
      <vt:lpstr>战术评估:</vt:lpstr>
      <vt:lpstr>备援评分器:</vt:lpstr>
      <vt:lpstr>总结: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XJY</dc:creator>
  <cp:lastModifiedBy>俊毅 徐</cp:lastModifiedBy>
  <cp:revision>20</cp:revision>
  <dcterms:created xsi:type="dcterms:W3CDTF">2023-08-09T12:44:00Z</dcterms:created>
  <dcterms:modified xsi:type="dcterms:W3CDTF">2025-12-19T15:24:43Z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0B8A0CDAFEB54E47BFEE3255D1924599_13</vt:lpwstr>
  </property>
  <property fmtid="{D5CDD505-2E9C-101B-9397-08002B2CF9AE}" pid="3" name="KSOProductBuildVer">
    <vt:lpwstr>2052-12.1.0.18608</vt:lpwstr>
  </property>
</Properties>
</file>